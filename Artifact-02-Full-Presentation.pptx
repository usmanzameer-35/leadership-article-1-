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cc5f1fea9041f9" /><Relationship Type="http://schemas.openxmlformats.org/officeDocument/2006/relationships/extended-properties" Target="/docProps/app.xml" Id="R8c07e6891681462e" /><Relationship Type="http://schemas.openxmlformats.org/officeDocument/2006/relationships/officeDocument" Target="/ppt/presentation.xml" Id="R7f895299a9f747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00b2b0a6b4ef7"/>
  </p:sldMasterIdLst>
  <p:notesMasterIdLst>
    <p:notesMasterId xmlns:r="http://schemas.openxmlformats.org/officeDocument/2006/relationships" r:id="R945da7ef4e1d435b"/>
  </p:notesMasterIdLst>
  <p:sldIdLst>
    <p:sldId xmlns:r="http://schemas.openxmlformats.org/officeDocument/2006/relationships" id="256" r:id="Re756aa01a3e64a1e"/>
    <p:sldId xmlns:r="http://schemas.openxmlformats.org/officeDocument/2006/relationships" id="257" r:id="R0f18559d31c6465e"/>
    <p:sldId xmlns:r="http://schemas.openxmlformats.org/officeDocument/2006/relationships" id="258" r:id="R6c1badf1a8374ef7"/>
    <p:sldId xmlns:r="http://schemas.openxmlformats.org/officeDocument/2006/relationships" id="259" r:id="R0ea430a07cfe4eb0"/>
    <p:sldId xmlns:r="http://schemas.openxmlformats.org/officeDocument/2006/relationships" id="260" r:id="R1c488e1224854d69"/>
    <p:sldId xmlns:r="http://schemas.openxmlformats.org/officeDocument/2006/relationships" id="261" r:id="Rbebef4245df445c2"/>
    <p:sldId xmlns:r="http://schemas.openxmlformats.org/officeDocument/2006/relationships" id="262" r:id="Ra22a621d01324a1b"/>
    <p:sldId xmlns:r="http://schemas.openxmlformats.org/officeDocument/2006/relationships" id="263" r:id="R98dc73a33e334ef1"/>
    <p:sldId xmlns:r="http://schemas.openxmlformats.org/officeDocument/2006/relationships" id="264" r:id="R8627177eb092437c"/>
    <p:sldId xmlns:r="http://schemas.openxmlformats.org/officeDocument/2006/relationships" id="265" r:id="R782e10e2d15c4c7a"/>
    <p:sldId xmlns:r="http://schemas.openxmlformats.org/officeDocument/2006/relationships" id="266" r:id="R8357484e982b49ad"/>
    <p:sldId xmlns:r="http://schemas.openxmlformats.org/officeDocument/2006/relationships" id="267" r:id="R8f8e8621e3bf40bc"/>
    <p:sldId xmlns:r="http://schemas.openxmlformats.org/officeDocument/2006/relationships" id="268" r:id="R4ed156167fd64af7"/>
    <p:sldId xmlns:r="http://schemas.openxmlformats.org/officeDocument/2006/relationships" id="269" r:id="R46b34865f5f64422"/>
    <p:sldId xmlns:r="http://schemas.openxmlformats.org/officeDocument/2006/relationships" id="270" r:id="R909b652c24924eb3"/>
    <p:sldId xmlns:r="http://schemas.openxmlformats.org/officeDocument/2006/relationships" id="271" r:id="Rde414441f1bd4a4f"/>
    <p:sldId xmlns:r="http://schemas.openxmlformats.org/officeDocument/2006/relationships" id="272" r:id="Rc92357d60d58434b"/>
    <p:sldId xmlns:r="http://schemas.openxmlformats.org/officeDocument/2006/relationships" id="273" r:id="R8af2bb5180ff4b8a"/>
    <p:sldId xmlns:r="http://schemas.openxmlformats.org/officeDocument/2006/relationships" id="274" r:id="R38dbfb3a5e5c497c"/>
    <p:sldId xmlns:r="http://schemas.openxmlformats.org/officeDocument/2006/relationships" id="275" r:id="Rd15f99b5eb944a98"/>
    <p:sldId xmlns:r="http://schemas.openxmlformats.org/officeDocument/2006/relationships" id="276" r:id="Rf1ff04985c3d44c1"/>
    <p:sldId xmlns:r="http://schemas.openxmlformats.org/officeDocument/2006/relationships" id="277" r:id="R12bc1174e4df4fa7"/>
    <p:sldId xmlns:r="http://schemas.openxmlformats.org/officeDocument/2006/relationships" id="278" r:id="R57fbb391ef9a45a3"/>
    <p:sldId xmlns:r="http://schemas.openxmlformats.org/officeDocument/2006/relationships" id="279" r:id="R096d0648d42045f7"/>
    <p:sldId xmlns:r="http://schemas.openxmlformats.org/officeDocument/2006/relationships" id="280" r:id="Rebe379c6fc2d49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675994edc84548" /><Relationship Type="http://schemas.openxmlformats.org/officeDocument/2006/relationships/slideMaster" Target="/ppt/slideMasters/slideMaster1.xml" Id="R33000b2b0a6b4ef7" /><Relationship Type="http://schemas.openxmlformats.org/officeDocument/2006/relationships/notesMaster" Target="/ppt/notesMasters/notesMaster1.xml" Id="R945da7ef4e1d435b" /><Relationship Type="http://schemas.openxmlformats.org/officeDocument/2006/relationships/presProps" Target="/ppt/presProps.xml" Id="R9b7db3b7a1524c54" /><Relationship Type="http://schemas.openxmlformats.org/officeDocument/2006/relationships/tableStyles" Target="/ppt/tableStyles.xml" Id="Rd6a9a47734344459" /><Relationship Type="http://schemas.openxmlformats.org/officeDocument/2006/relationships/slide" Target="/ppt/slides/slide1.xml" Id="Re756aa01a3e64a1e" /><Relationship Type="http://schemas.openxmlformats.org/officeDocument/2006/relationships/slide" Target="/ppt/slides/slide2.xml" Id="R0f18559d31c6465e" /><Relationship Type="http://schemas.openxmlformats.org/officeDocument/2006/relationships/slide" Target="/ppt/slides/slide3.xml" Id="R6c1badf1a8374ef7" /><Relationship Type="http://schemas.openxmlformats.org/officeDocument/2006/relationships/slide" Target="/ppt/slides/slide4.xml" Id="R0ea430a07cfe4eb0" /><Relationship Type="http://schemas.openxmlformats.org/officeDocument/2006/relationships/slide" Target="/ppt/slides/slide5.xml" Id="R1c488e1224854d69" /><Relationship Type="http://schemas.openxmlformats.org/officeDocument/2006/relationships/slide" Target="/ppt/slides/slide6.xml" Id="Rbebef4245df445c2" /><Relationship Type="http://schemas.openxmlformats.org/officeDocument/2006/relationships/slide" Target="/ppt/slides/slide7.xml" Id="Ra22a621d01324a1b" /><Relationship Type="http://schemas.openxmlformats.org/officeDocument/2006/relationships/slide" Target="/ppt/slides/slide8.xml" Id="R98dc73a33e334ef1" /><Relationship Type="http://schemas.openxmlformats.org/officeDocument/2006/relationships/slide" Target="/ppt/slides/slide9.xml" Id="R8627177eb092437c" /><Relationship Type="http://schemas.openxmlformats.org/officeDocument/2006/relationships/slide" Target="/ppt/slides/slide10.xml" Id="R782e10e2d15c4c7a" /><Relationship Type="http://schemas.openxmlformats.org/officeDocument/2006/relationships/slide" Target="/ppt/slides/slide11.xml" Id="R8357484e982b49ad" /><Relationship Type="http://schemas.openxmlformats.org/officeDocument/2006/relationships/slide" Target="/ppt/slides/slide12.xml" Id="R8f8e8621e3bf40bc" /><Relationship Type="http://schemas.openxmlformats.org/officeDocument/2006/relationships/slide" Target="/ppt/slides/slide13.xml" Id="R4ed156167fd64af7" /><Relationship Type="http://schemas.openxmlformats.org/officeDocument/2006/relationships/slide" Target="/ppt/slides/slide14.xml" Id="R46b34865f5f64422" /><Relationship Type="http://schemas.openxmlformats.org/officeDocument/2006/relationships/slide" Target="/ppt/slides/slide15.xml" Id="R909b652c24924eb3" /><Relationship Type="http://schemas.openxmlformats.org/officeDocument/2006/relationships/slide" Target="/ppt/slides/slide16.xml" Id="Rde414441f1bd4a4f" /><Relationship Type="http://schemas.openxmlformats.org/officeDocument/2006/relationships/slide" Target="/ppt/slides/slide17.xml" Id="Rc92357d60d58434b" /><Relationship Type="http://schemas.openxmlformats.org/officeDocument/2006/relationships/slide" Target="/ppt/slides/slide18.xml" Id="R8af2bb5180ff4b8a" /><Relationship Type="http://schemas.openxmlformats.org/officeDocument/2006/relationships/slide" Target="/ppt/slides/slide19.xml" Id="R38dbfb3a5e5c497c" /><Relationship Type="http://schemas.openxmlformats.org/officeDocument/2006/relationships/slide" Target="/ppt/slides/slide20.xml" Id="Rd15f99b5eb944a98" /><Relationship Type="http://schemas.openxmlformats.org/officeDocument/2006/relationships/slide" Target="/ppt/slides/slide21.xml" Id="Rf1ff04985c3d44c1" /><Relationship Type="http://schemas.openxmlformats.org/officeDocument/2006/relationships/slide" Target="/ppt/slides/slide22.xml" Id="R12bc1174e4df4fa7" /><Relationship Type="http://schemas.openxmlformats.org/officeDocument/2006/relationships/slide" Target="/ppt/slides/slide23.xml" Id="R57fbb391ef9a45a3" /><Relationship Type="http://schemas.openxmlformats.org/officeDocument/2006/relationships/slide" Target="/ppt/slides/slide24.xml" Id="R096d0648d42045f7" /><Relationship Type="http://schemas.openxmlformats.org/officeDocument/2006/relationships/slide" Target="/ppt/slides/slide25.xml" Id="Rebe379c6fc2d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c1eb0f3693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6b3ae9eb01496c" /><Relationship Type="http://schemas.openxmlformats.org/officeDocument/2006/relationships/notesMaster" Target="/ppt/notesMasters/notesMaster1.xml" Id="Rf1e7a628ff0648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20adbc5634be2" /><Relationship Type="http://schemas.openxmlformats.org/officeDocument/2006/relationships/notesMaster" Target="/ppt/notesMasters/notesMaster1.xml" Id="R3d07fd2adeb0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aa5d54bf8420a" /><Relationship Type="http://schemas.openxmlformats.org/officeDocument/2006/relationships/notesMaster" Target="/ppt/notesMasters/notesMaster1.xml" Id="R9edd011492b44c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83d5c4875428c" /><Relationship Type="http://schemas.openxmlformats.org/officeDocument/2006/relationships/notesMaster" Target="/ppt/notesMasters/notesMaster1.xml" Id="R3d41060b116a43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780efa5e964c84" /><Relationship Type="http://schemas.openxmlformats.org/officeDocument/2006/relationships/notesMaster" Target="/ppt/notesMasters/notesMaster1.xml" Id="R5d213a78c5ea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fb12a69fc4484" /><Relationship Type="http://schemas.openxmlformats.org/officeDocument/2006/relationships/notesMaster" Target="/ppt/notesMasters/notesMaster1.xml" Id="Rf09a57f523b34d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c24fd611df4d74" /><Relationship Type="http://schemas.openxmlformats.org/officeDocument/2006/relationships/notesMaster" Target="/ppt/notesMasters/notesMaster1.xml" Id="Rc9d018fd0e064f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2e76dc4102422a" /><Relationship Type="http://schemas.openxmlformats.org/officeDocument/2006/relationships/notesMaster" Target="/ppt/notesMasters/notesMaster1.xml" Id="Rd06fa8ae073d44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d9b4c36d1b4f37" /><Relationship Type="http://schemas.openxmlformats.org/officeDocument/2006/relationships/notesMaster" Target="/ppt/notesMasters/notesMaster1.xml" Id="Reaed4800538446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4e3ada68574d6e" /><Relationship Type="http://schemas.openxmlformats.org/officeDocument/2006/relationships/notesMaster" Target="/ppt/notesMasters/notesMaster1.xml" Id="R03ddb36608bf42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1baeb425d46ac" /><Relationship Type="http://schemas.openxmlformats.org/officeDocument/2006/relationships/notesMaster" Target="/ppt/notesMasters/notesMaster1.xml" Id="R97c3a8d23feb48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e182436cef4acb" /><Relationship Type="http://schemas.openxmlformats.org/officeDocument/2006/relationships/notesMaster" Target="/ppt/notesMasters/notesMaster1.xml" Id="R2417e89c747041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1d71e96f714519" /><Relationship Type="http://schemas.openxmlformats.org/officeDocument/2006/relationships/notesMaster" Target="/ppt/notesMasters/notesMaster1.xml" Id="R18f3a7e9f98a40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9a9b997e8a4c37" /><Relationship Type="http://schemas.openxmlformats.org/officeDocument/2006/relationships/notesMaster" Target="/ppt/notesMasters/notesMaster1.xml" Id="Rf31950e10ef94d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27668022094360" /><Relationship Type="http://schemas.openxmlformats.org/officeDocument/2006/relationships/notesMaster" Target="/ppt/notesMasters/notesMaster1.xml" Id="Rfd50dbff61094a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227f13693e4a1a" /><Relationship Type="http://schemas.openxmlformats.org/officeDocument/2006/relationships/notesMaster" Target="/ppt/notesMasters/notesMaster1.xml" Id="Rd1922e5c799b49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9810a7577646f6" /><Relationship Type="http://schemas.openxmlformats.org/officeDocument/2006/relationships/notesMaster" Target="/ppt/notesMasters/notesMaster1.xml" Id="R71c1112380e440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8faf673365403e" /><Relationship Type="http://schemas.openxmlformats.org/officeDocument/2006/relationships/notesMaster" Target="/ppt/notesMasters/notesMaster1.xml" Id="R0dda542b5e7b47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b957606702420e" /><Relationship Type="http://schemas.openxmlformats.org/officeDocument/2006/relationships/notesMaster" Target="/ppt/notesMasters/notesMaster1.xml" Id="R74ece207612946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daa386431e4502" /><Relationship Type="http://schemas.openxmlformats.org/officeDocument/2006/relationships/notesMaster" Target="/ppt/notesMasters/notesMaster1.xml" Id="Rfefed9d353fb40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0c202561cb44c4" /><Relationship Type="http://schemas.openxmlformats.org/officeDocument/2006/relationships/notesMaster" Target="/ppt/notesMasters/notesMaster1.xml" Id="Rfce716903f0649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9ce1ce26464e94" /><Relationship Type="http://schemas.openxmlformats.org/officeDocument/2006/relationships/notesMaster" Target="/ppt/notesMasters/notesMaster1.xml" Id="R6f3244b0f4fb44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c75073d2854d4f" /><Relationship Type="http://schemas.openxmlformats.org/officeDocument/2006/relationships/notesMaster" Target="/ppt/notesMasters/notesMaster1.xml" Id="R821ee2bf981e45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72a4de078b4943" /><Relationship Type="http://schemas.openxmlformats.org/officeDocument/2006/relationships/notesMaster" Target="/ppt/notesMasters/notesMaster1.xml" Id="R7d0f62ab0d9e44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20faf6ca5741e3" /><Relationship Type="http://schemas.openxmlformats.org/officeDocument/2006/relationships/notesMaster" Target="/ppt/notesMasters/notesMaster1.xml" Id="R2f17c27b59ea40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c2478655c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b34073c13407d" /><Relationship Type="http://schemas.openxmlformats.org/officeDocument/2006/relationships/slideLayout" Target="/ppt/slideLayouts/slideLayout1.xml" Id="Rb134815a50c649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4815a50c649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231bf8feb4a8a" /><Relationship Type="http://schemas.openxmlformats.org/officeDocument/2006/relationships/image" Target="/ppt/media/image.png" Id="R8d4a94947d6b48fe" /><Relationship Type="http://schemas.openxmlformats.org/officeDocument/2006/relationships/notesSlide" Target="/ppt/notesSlides/notesSlide1.xml" Id="R77d1aba8e2ba44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a3f66b4e24475" /><Relationship Type="http://schemas.openxmlformats.org/officeDocument/2006/relationships/notesSlide" Target="/ppt/notesSlides/notesSlide2.xml" Id="Rf6cff28c17de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0561179234017" /><Relationship Type="http://schemas.openxmlformats.org/officeDocument/2006/relationships/notesSlide" Target="/ppt/notesSlides/notesSlide3.xml" Id="R20a410d714a54a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8595c324e4bac" /><Relationship Type="http://schemas.openxmlformats.org/officeDocument/2006/relationships/notesSlide" Target="/ppt/notesSlides/notesSlide4.xml" Id="R6713b0cd9b594f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fca4e8f940a1" /><Relationship Type="http://schemas.openxmlformats.org/officeDocument/2006/relationships/notesSlide" Target="/ppt/notesSlides/notesSlide5.xml" Id="R9d8de9a5c4924a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40dfee114c86" /><Relationship Type="http://schemas.openxmlformats.org/officeDocument/2006/relationships/notesSlide" Target="/ppt/notesSlides/notesSlide6.xml" Id="Rd6ff2a228e294c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0c95e4644b85" /><Relationship Type="http://schemas.openxmlformats.org/officeDocument/2006/relationships/notesSlide" Target="/ppt/notesSlides/notesSlide7.xml" Id="R40d0886eb1d940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31ffd1b2b430f" /><Relationship Type="http://schemas.openxmlformats.org/officeDocument/2006/relationships/notesSlide" Target="/ppt/notesSlides/notesSlide8.xml" Id="Rb40859a5e3f1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b290cbf29406f" /><Relationship Type="http://schemas.openxmlformats.org/officeDocument/2006/relationships/notesSlide" Target="/ppt/notesSlides/notesSlide9.xml" Id="R84b6665487a149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259183f6148d2" /><Relationship Type="http://schemas.openxmlformats.org/officeDocument/2006/relationships/notesSlide" Target="/ppt/notesSlides/notesSlide10.xml" Id="R31d009ed58584b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44c53ba4f4a09" /><Relationship Type="http://schemas.openxmlformats.org/officeDocument/2006/relationships/notesSlide" Target="/ppt/notesSlides/notesSlide11.xml" Id="R9e930a9aad0b4f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760fe30e84da6" /><Relationship Type="http://schemas.openxmlformats.org/officeDocument/2006/relationships/notesSlide" Target="/ppt/notesSlides/notesSlide12.xml" Id="R5174c94f5b984e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7f16bbefa4007" /><Relationship Type="http://schemas.openxmlformats.org/officeDocument/2006/relationships/notesSlide" Target="/ppt/notesSlides/notesSlide13.xml" Id="R418b4a59717b47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238cb044d45b2" /><Relationship Type="http://schemas.openxmlformats.org/officeDocument/2006/relationships/notesSlide" Target="/ppt/notesSlides/notesSlide14.xml" Id="R6cae9c42ca494d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69e8c95e54ae8" /><Relationship Type="http://schemas.openxmlformats.org/officeDocument/2006/relationships/notesSlide" Target="/ppt/notesSlides/notesSlide15.xml" Id="Rb8a3e3176c9d40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885bd50f3465a" /><Relationship Type="http://schemas.openxmlformats.org/officeDocument/2006/relationships/notesSlide" Target="/ppt/notesSlides/notesSlide16.xml" Id="R51a7781361d04b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34f87b10d4cd2" /><Relationship Type="http://schemas.openxmlformats.org/officeDocument/2006/relationships/notesSlide" Target="/ppt/notesSlides/notesSlide17.xml" Id="R32ec94aa770f4d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574d2d6b546fb" /><Relationship Type="http://schemas.openxmlformats.org/officeDocument/2006/relationships/notesSlide" Target="/ppt/notesSlides/notesSlide18.xml" Id="Rfbbd99e192e847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e10d7e49b4d71" /><Relationship Type="http://schemas.openxmlformats.org/officeDocument/2006/relationships/notesSlide" Target="/ppt/notesSlides/notesSlide19.xml" Id="Rfb6a5946943740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78487141a4dee" /><Relationship Type="http://schemas.openxmlformats.org/officeDocument/2006/relationships/notesSlide" Target="/ppt/notesSlides/notesSlide20.xml" Id="R407b60b5b11e41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a3e75037e4ccb" /><Relationship Type="http://schemas.openxmlformats.org/officeDocument/2006/relationships/notesSlide" Target="/ppt/notesSlides/notesSlide21.xml" Id="R463d4ee45b5843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27ad2105b4229" /><Relationship Type="http://schemas.openxmlformats.org/officeDocument/2006/relationships/notesSlide" Target="/ppt/notesSlides/notesSlide22.xml" Id="R14ba8ba02ad649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98c9f737d46e8" /><Relationship Type="http://schemas.openxmlformats.org/officeDocument/2006/relationships/notesSlide" Target="/ppt/notesSlides/notesSlide23.xml" Id="Rbac4b47bba8d4c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980794a214e5e" /><Relationship Type="http://schemas.openxmlformats.org/officeDocument/2006/relationships/notesSlide" Target="/ppt/notesSlides/notesSlide24.xml" Id="R224a48d6bbf349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6766da894a9e" /><Relationship Type="http://schemas.openxmlformats.org/officeDocument/2006/relationships/notesSlide" Target="/ppt/notesSlides/notesSlide25.xml" Id="R0af25d653e3643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a94947d6b48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FBF81-5FA8-43A5-84A3-A19004C5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CF85E-2094-4FCB-B199-40C5FF9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CILLIERS · 2011 · ORIGINAL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76B04-DF28-4413-837A-22A9B66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81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 psychology leadership coaching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EA52E-57EF-4695-A061-8445CABE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Experiences in a financial organisation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3F1A3-E3BB-4FC1-8E4F-F3A9396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Presentation time: 15-16 minutes · approximately 2.5 minutes per speaker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D9641-2C56-4B55-8336-3AF8A729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Mehr-un-Nisa · Saira · Usman · Zeeshan · Tahmina · Mahjabeen</a:t>
            </a:r>
          </a:p>
        </p:txBody>
      </p:sp>
    </p:spTree>
    <p:extLst>
      <p:ext uri="{BB962C8B-B14F-4D97-AF65-F5344CB8AC3E}">
        <p14:creationId xmlns:p14="http://schemas.microsoft.com/office/powerpoint/2010/main" val="1224964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54FDB-C2F1-45D3-8BA2-B2D7538E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5C32B-AB2A-44AC-B3A5-7D2FF32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Who will present each section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34A50-4468-41FA-9B63-7319F57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Group presentation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40E85-5D3E-4E56-92AC-3E2A3C24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9753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2CD70-E9C7-44AE-BA53-EAC164B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1062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8E3B4-7FEC-4CD5-A563-822999B8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629AA-0E4A-4E53-B693-2D5824D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90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26B1D-2249-48B5-941D-49B43235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3C724-1A9B-4388-BEA2-B8FDC397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062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27C9E-F165-4F7F-82AD-48141645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0B44C-E7C4-420A-AACA-4294BBD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812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45CDC-1C76-49BD-B727-2B130B1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812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D7DA0-E6B0-40C8-AF26-C90C922E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62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60899-3B35-4A6D-8C56-88E0357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9FDC1-F4E8-48AF-845A-BD78AB5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71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51ABE-0B11-4885-985F-F225E5FA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1EFE7-5374-4F01-AD91-D993FB3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62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F1B9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76C6-00DF-4C27-BFC1-166FFE0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9DF54-1C65-4C2C-8A78-DB07B90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623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99A47-6F0D-4873-9F6C-93FED26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909D3-75DB-4D08-91B0-A2DAE2DE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062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0A8C0-FE73-420A-9DB4-19B56EC0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FE56D-0999-4E60-9B4D-D692309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52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558C1-02B4-45DC-9F3E-58FB96E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EAE6D-7EE7-444B-AC56-3C542467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629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4BFBB-2486-4F23-8968-AE096A5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816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8E034-0B3A-44EA-8C44-5531B3BF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435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A635BE-AC18-4112-9980-5AB9BEAC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435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Critical Evaluation and Conclusion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20840-A94E-4572-9823-225AEB9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210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Six speakers · one connected argument</a:t>
            </a:r>
          </a:p>
        </p:txBody>
      </p:sp>
    </p:spTree>
    <p:extLst>
      <p:ext uri="{BB962C8B-B14F-4D97-AF65-F5344CB8AC3E}">
        <p14:creationId xmlns:p14="http://schemas.microsoft.com/office/powerpoint/2010/main" val="76867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677E8-559C-44BE-BEC2-8E98ABE4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51293-46EA-422C-8B7C-AEE1371B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Frans Cilliers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81B5A-C26A-44B3-9F19-3F29ECD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9E9FB-9453-4741-BA82-97EDA71B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6EF2C-0E96-4743-8FAC-153BA57E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4630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AB371-FDB5-4C94-9C8F-C05FE43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3429000" cy="4457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F9E4E-69CE-4337-9C2E-44F549D4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2324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30C5D-D0D6-4A7E-ACF8-1C2C1CA7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 AND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ORGANISATIONAL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PSYCHOLOGY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2CE0A-8260-469A-8923-E0C3EF8D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90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A psychologist studying leadership from inside the coaching relationship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52FD6-9052-420A-8921-BE839A8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AE3D7-7D0E-4E09-BD50-BCA1FB45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Industrial and organisational psychology academic at the University of South Africa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CE7C4-F07E-45BB-9B4A-138681D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539C2-ED0C-4A95-9EC8-818418D0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Registered psychologist with practical experience in positive psychology and leadership coaching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74A40-F844-426E-BCDD-4F624A6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A221E-582C-4BFA-BF8C-F6C07171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Trained in person-centred, Rogerian facilitation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C8709-8903-4306-9142-02A541B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A661D-336E-48CA-8F90-51382071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Served as the external consultant, coach and researcher in this study</a:t>
            </a:r>
          </a:p>
        </p:txBody>
      </p:sp>
    </p:spTree>
    <p:extLst>
      <p:ext uri="{BB962C8B-B14F-4D97-AF65-F5344CB8AC3E}">
        <p14:creationId xmlns:p14="http://schemas.microsoft.com/office/powerpoint/2010/main" val="1474200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950BC-8F33-46EA-A4DF-A90492BD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D1A05-7A4A-47AA-9842-068EDBC1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How the study emerged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02392-DA5D-4A91-9E29-C533556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D3D4A-E8E8-4204-9DC7-CC0BDA24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0D949-7AB4-4E98-A47B-479FD2D3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9507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47E47-6186-4633-8EB6-13FC124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D9833-94C0-4110-B789-CABE240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008A9-E103-48D9-8BAA-E68FC38B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71675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EDF5B-2D9A-429A-AF0A-543C5286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Positive psychology gained attention as the study of strengths and flourishing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0DE7-AF19-4A26-9F91-A89257AF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C95B8-9BD5-438A-BBED-965D347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2000s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B09AE-6E18-466E-A313-A72937F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71675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DE7D2-DAE6-44F9-8800-06305F4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Organisations increasingly applied positive psychology through coaching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7B15F-4649-4AE3-9C4C-3367F61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916E1-089F-483D-8F18-CFF6D6E6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57FF7-B873-4711-B1BB-23DE6AE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71675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BA595-32E9-4597-8624-0940AE13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 financial organisation asked Cilliers to develop leaders who struggled with people leadership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5524D-75DA-4529-9049-3E52D7E7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57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F395F-1E2E-4B80-A71B-AE1D7F5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526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2011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D6CFA-8358-42C1-AAE5-2FDB06C7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journal published the qualitative study after peer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C6CE4-1122-4BED-BAB5-55673F8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The article sits where growing coaching practice met a shortage of qualitative evidence.</a:t>
            </a:r>
          </a:p>
        </p:txBody>
      </p:sp>
    </p:spTree>
    <p:extLst>
      <p:ext uri="{BB962C8B-B14F-4D97-AF65-F5344CB8AC3E}">
        <p14:creationId xmlns:p14="http://schemas.microsoft.com/office/powerpoint/2010/main" val="1778820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BC61A-5D23-4D3A-A397-9A72A81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84F88-8549-4594-AF40-4BB52E5C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Why Cilliers published the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22C28-A4C9-4993-AD0D-27628C8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Introduction, Author, History and 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C190E-2F17-4477-BBAE-492F8B3D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Mehr-un-Nisa Shafiq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BA304-C5F1-43CC-9500-EE55E93E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C78D4-6E71-45EF-8A86-3007973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7BBEC-EC1C-49E9-ABBA-DDA84B82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 organisational need exposed a gap in the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6B6BD-08F5-4EEB-ADE1-1A7A4AF4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1BCDC-3823-44F5-BB7F-5357B59E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relied heavily on targets, rules and positional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D5127-3211-428F-A9DC-40D98FB5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2C57F-5850-4A50-BB0A-D646D4A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Colleagues experienced weak listening, care and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45DBE-0A00-4362-A2B2-C8B2CB2C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A5433-F782-4AC3-ABE0-F6D1A18C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Earlier studies examined isolated coaching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FA7DE-2329-4B89-B647-8962E52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26450-EE1A-4976-8758-2ACB313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No qualitative study combined all five constructs used in this programme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A8D43-C73C-4A84-8D64-D1FDF3EB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Research question: How can weak people-leadership awareness in a financial organisation be addressed successfully?</a:t>
            </a:r>
          </a:p>
        </p:txBody>
      </p:sp>
    </p:spTree>
    <p:extLst>
      <p:ext uri="{BB962C8B-B14F-4D97-AF65-F5344CB8AC3E}">
        <p14:creationId xmlns:p14="http://schemas.microsoft.com/office/powerpoint/2010/main" val="2011904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EAFFD-40EE-44CF-A0CE-186D4998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259B3-5AE5-42F4-B5FE-CAE49112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Positive psychology in leadership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318EA-3634-4498-8A9D-FB0A9E09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FF177-6739-47BC-8AF4-BC32A7CF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D1E5F-6B99-47A1-BF8F-CC215454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9260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E35A3-36BA-4C7C-BCC7-AECF5C5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78F5C-A9CE-4031-87B8-A6D44E5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programme treated leadership development as growth in self-awareness, internal motivation and interpersonal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9657D-3687-484E-AEFC-0A3D7CC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A4158-EE63-4D6B-B602-BFB4F16B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Strengths and psychological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EB279-1173-43E3-92C8-B8A61813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84D75-E890-4431-BD5B-2F7ED708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Meaning, engagement and responsibility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89477-3DB9-4975-9AB6-54422A2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AD437-F1E9-4BF1-9A16-B890A271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Emotional awareness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94103-8471-41B2-B6E8-A1E2AB77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7B5D1-BD8D-4A16-95F7-48939110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Relationships that support growth</a:t>
            </a:r>
          </a:p>
        </p:txBody>
      </p:sp>
    </p:spTree>
    <p:extLst>
      <p:ext uri="{BB962C8B-B14F-4D97-AF65-F5344CB8AC3E}">
        <p14:creationId xmlns:p14="http://schemas.microsoft.com/office/powerpoint/2010/main" val="1921634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42A2E-5AE1-4E17-A611-254F9703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08519-29AE-47F7-8C19-036C910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field already contained a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CCE5D-E6ED-4C1D-A1A5-0967D88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824D8-91E8-46FF-AE26-96C05B9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B9BDC-F15F-45BA-BC7D-05E874D9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34137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45551-C092-40DE-8540-F5EBB75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2BA8A-07D6-4BDB-AACE-D7616B5D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Promise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E3284-FB32-47A3-9288-3AA66A8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4CDE4-988F-4AF9-BDF6-3DE09B5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44097-96B3-4721-9E0A-521D40A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Stronger 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CD136-4974-4BB8-8391-C184B63C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Greater self-efficacy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A2F0D-7286-43B5-9C9A-7B4A02A4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Improved management effectiveness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1BF3C-C139-43EB-A1C8-2203156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More positive affect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7E707-29DB-4C0E-BAED-2E7DBCE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Practice could outpace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55B47-1D96-4746-AF26-67107DE2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Positive language could hide difficult emotions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198D4-888E-4B46-9AA4-9E98F27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Some clients may resist relationships and growth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D2C33-6660-42B8-BA46-90A37A23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Task results could overshadow people leadership</a:t>
            </a:r>
          </a:p>
        </p:txBody>
      </p:sp>
    </p:spTree>
    <p:extLst>
      <p:ext uri="{BB962C8B-B14F-4D97-AF65-F5344CB8AC3E}">
        <p14:creationId xmlns:p14="http://schemas.microsoft.com/office/powerpoint/2010/main" val="2144899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FB023-3315-4493-BBED-0C39D1B7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29EFF-BA75-4088-90B1-723BD560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Five constructs shaped the coaching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CFA18-3ECF-4CC2-8F48-51044007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74E23-6597-435F-8792-EBD38A8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FBDD-3E15-4CD3-A43D-4D59868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39014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A77D3-FFB7-483A-BF60-44DD44A0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17288-C134-4899-B0B9-21B4BEAD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24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AEC67-D0B8-44B3-B0A4-D341BD01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66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Work engagement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48C89-6D82-4A41-8E4C-4D47E6B3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Energy and involvement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09BD9-2C51-4278-9112-66D84EE6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795E6-A0FF-42D9-AC8C-15702DF8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ADB6C-6D79-4FBE-8A91-B89899A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Learned resourcefulness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887B7-8C8F-4B03-AE39-66DD3DD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Regulating thoughts and emotions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F0D28-4E56-40B3-9A2D-3D299072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2C1B9-D04D-4DC3-93D9-D77D099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499B2-0E7B-4A5E-80C7-A94DA3C1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Sense of coherence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24FC1-30F0-472B-98A0-A5DE9514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Making demands understandable and manageable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EA2FF-2C8E-4B77-B924-FA63D38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5CA25-4A57-4761-988E-79C5743C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2D9CB-9299-48F3-8853-E7BB3C02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24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Self-actualisation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47621-8BC6-4FB8-8045-61E6B741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Growing towards one's potential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DFCC1-FC60-453A-BD9B-7C9B7B76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1249E-FE6C-43B2-A0C4-8CC0481F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E3589-5196-457A-8A1B-95B1BA6E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76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Internal locus of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3283C-69AB-43FD-8104-4662701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768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Believing one's actions influence outcomes</a:t>
            </a:r>
          </a:p>
        </p:txBody>
      </p:sp>
    </p:spTree>
    <p:extLst>
      <p:ext uri="{BB962C8B-B14F-4D97-AF65-F5344CB8AC3E}">
        <p14:creationId xmlns:p14="http://schemas.microsoft.com/office/powerpoint/2010/main" val="1077274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7CA94-2ECC-45DE-A969-6058665F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01EB8-5577-499B-8104-A2A2CA6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conceptual leadership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B9184-2152-48AF-B1FB-5C3C0CE6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18045-F074-4CFC-A893-1964D35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EEF78-4FCC-43A9-95FB-1D145C98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43891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D6A63-CDD8-40E5-B395-FB64A14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674B0-28AF-420A-96F1-E4BC233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32BEF-B081-4E76-AEC1-4D3A0DE7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Engage with the role of leader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4435-8D8E-48EB-B2BC-C58DA4BB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08E98-F52B-4BCE-B518-3A89E5C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4B422-0535-469A-9F70-1E84D80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Understand the move from management to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FB0A2-AE91-49DC-A945-B89070C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C17F-BB17-4E6D-A082-8D5E94E5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BFF1A-849A-43AA-88F7-CBF5EDC0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Recognise emotional demands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806E8-82E1-4454-9E17-32466C3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09C89-3E54-4AC1-8D46-1D63007C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21D5A-C9E6-4DA0-B376-DEFEF27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Authorise oneself to 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43BE8-21C5-4FB1-AF2C-194B0210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0036C-D74C-4AF6-AD87-B5AEBFA9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FD238-B72B-499F-B57D-C087AC39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growth opportunities for others</a:t>
            </a:r>
          </a:p>
        </p:txBody>
      </p:sp>
    </p:spTree>
    <p:extLst>
      <p:ext uri="{BB962C8B-B14F-4D97-AF65-F5344CB8AC3E}">
        <p14:creationId xmlns:p14="http://schemas.microsoft.com/office/powerpoint/2010/main" val="1497641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87594-0B89-4838-B5E2-DCB88CA9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CB202-0C94-4DAE-A9AB-6D6461FC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Research philosophy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10FB8-8249-45DA-90A8-47C8D79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E8262-7ECC-4053-B9B6-C8FCA54E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EA310-D8BA-42CD-81D9-1FCA3A19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487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DDB60-A2C6-442B-9CB0-507E227D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B8BC-91BB-4ED9-B26C-D5CE5175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AC2A4-6B99-4A5D-A42E-ADEC7F65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Ontology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B0813-36A0-42E6-8BCC-653F644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Leadership reality appears through lived and contextual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39909-4972-4326-A690-BB3EE65C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EFFBE-16B8-462A-AC63-CE27B4E9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5684F-34F4-4438-980F-AD556C6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Epistemology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CFC31-BA25-4297-A833-4B82EF7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Knowledge develops through reflection and interaction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7D00B-DFC7-4FA4-9F47-10CC3C7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34960-AB30-43C0-A05D-3D7DF88A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8C2A3-58EB-4364-A8EB-2CAF418E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E7961-8B7F-4412-A79C-C2E05A7B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Interpretive and constructivist reading with participatory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26CF7-DA97-4D7F-8FD5-7651A7B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B9CA3-4071-42A0-A946-D924415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C524B-9C4D-4D7F-AF4A-F23C5F79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05CB9-8D98-4C25-B97C-168E751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Qualitative descriptive case study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066F3-6C4C-4702-A7FC-5F92E111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The article does not explicitly name its ontology or epistemology; this reading follows its design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813779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66056-09AF-4895-B1A4-D1858FC2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5A169-28DD-45D5-AC1B-7270DBA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Research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5634C-084A-4A71-8F62-EB60ABA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E736-0226-4A32-AE24-9C9690E9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1AC8C-5E52-4A2C-B854-7738BF7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5364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FE860-20F8-4FE0-9BEF-3D08A43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5D5FE-B5C1-4FCC-A950-930DC68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bounded coaching programme became the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421E4-0F51-4FB8-A7EA-3BB65E59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99641-B705-4CBD-846B-139D279E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Qualitative and descriptive approach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779B1-B7D2-4649-9870-8DC4EF23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60FCC-F496-47B4-A76E-3447A3B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Participatory action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F364B-DB5A-45D2-8745-2715466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8C618-A935-4E40-8B85-D3D6AFC5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Intrinsic case: understand this programme deeply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CDD85-0E17-4491-BE75-5B3A1B9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6D01E-479D-4A1A-AB35-06AD57B8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Instrumental case: inform leadership development in the organisation</a:t>
            </a:r>
          </a:p>
        </p:txBody>
      </p:sp>
    </p:spTree>
    <p:extLst>
      <p:ext uri="{BB962C8B-B14F-4D97-AF65-F5344CB8AC3E}">
        <p14:creationId xmlns:p14="http://schemas.microsoft.com/office/powerpoint/2010/main" val="1722328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A8553-2F39-478B-B4CD-BBF953A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C337C-C05B-4B31-979D-D502A8E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Participants and coaching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315D8-3548-4E05-8BDC-66202B2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F4AD5-EC0F-4C49-88F2-208197C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6FA77-5D3A-472E-AE38-3A0AE9C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58521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E06C5-7430-42BB-A0C6-3AD1BD5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F858E-7B00-442F-8EAF-4A240D6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AF370-C1D6-466D-8141-573ADD39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leaders invited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86F26-8AB8-4E76-B787-93EAC4C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57F70-71B2-45A5-AEF5-A93A792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A54B4-007D-4C6E-A446-F3A161D4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09D89-9848-405A-98F9-7D64C1F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D7FF0-A360-4299-AE61-BB76EA82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4C89E-A7B1-41FC-919D-A774474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one-hour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D1139-5995-42CF-8D38-9E33A78D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097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DC205-EA41-4FB4-98B2-4DEC158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ED6D7-D39E-4A92-9595-CD6B95CE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weeks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5C734-2D81-4A00-AEC9-C68BD6E1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56392-48B8-489F-8897-C7418B9F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Seven men and four women, aged 24 to 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76BFE-487E-4FB5-8B55-89549FC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2C58E-534E-43B5-B35B-FAD86F24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Five Black and six White participants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86594-9E31-4A8C-9057-0C050066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C5AA2-C357-419B-81DA-98FA6416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Convenience sample of advancement-potential leaders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CF512-D0F1-40AE-995C-37070C37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A87A1-36DC-45F5-BDF9-60EED893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Coach observed one meeting chaired by each participant</a:t>
            </a:r>
          </a:p>
        </p:txBody>
      </p:sp>
    </p:spTree>
    <p:extLst>
      <p:ext uri="{BB962C8B-B14F-4D97-AF65-F5344CB8AC3E}">
        <p14:creationId xmlns:p14="http://schemas.microsoft.com/office/powerpoint/2010/main" val="2520980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85EF5-91B8-42D0-A966-B66541A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98877-2186-4755-94CE-005AC3E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From experience to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CD21-9CC1-4BF7-B326-175052A5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Research Philosophy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1100A-EBC9-4FE1-A5BB-53E69A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Usman Zameer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674F8-96B0-4EDD-9C87-42D18C59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63398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0AAB9-15C7-43F4-88B6-F6A02D2A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55823-5FF3-4B32-81A5-00494A6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04F05-D830-4D08-9C34-D13713B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Field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7E3A9-73A4-4642-B0BF-FFB7E9C5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Recorded during and after coaching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3CFB6-0986-46F6-9DB4-F87456B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166BB-3EB9-4DD1-AC48-199A860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745F1-5220-4107-8F8A-E16467D8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Reflective essays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6CFA8-01CD-4EAC-B4CD-9744CDA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About five pages from each participant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C3BCB-1C1E-45DA-A320-C73FFA12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4AB71-1435-4ECE-BA39-50DD4C8E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41A44-7A22-4B1F-95C4-D68C6EA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Discourse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F9A9F-71DB-4140-A292-BB57A08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Familiarisation, categorising and 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3B143-9278-4097-8863-B394D624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43050"/>
            <a:ext cx="2457450" cy="35433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E8503-4598-4158-9A29-F1643D9B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50914-0289-49BF-9F45-3DA6189C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Six themes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A0CAE-45B3-4DC3-AE28-5A3A52F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924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Working hypotheses linked experience to theory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035AB-E86B-4467-8B31-EBFDD54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Quality: peer review by two psychologists, prolonged engagement, consent, confidentiality and organisational permission.</a:t>
            </a:r>
          </a:p>
        </p:txBody>
      </p:sp>
    </p:spTree>
    <p:extLst>
      <p:ext uri="{BB962C8B-B14F-4D97-AF65-F5344CB8AC3E}">
        <p14:creationId xmlns:p14="http://schemas.microsoft.com/office/powerpoint/2010/main" val="15887397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0F230-B665-4AF5-8B15-8AD552D6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B5143-70DE-4471-872F-CEB68FC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Six themes emerged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9F665-41B9-4E21-87E9-500F3E5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5888E-BEAF-44F2-8C3F-BFA7CA44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82B77-3DF2-4595-91BD-A6841CD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68275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5EBF1-C777-44CE-A431-0B7B121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91BA6-2E27-4C86-A989-63C19E4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60986-CCCE-4D04-B386-6DC75A6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Coaching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94FDB-D55D-4A63-B644-C9F9861A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61538-E162-4BFC-A518-D214F214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0B9A2-E303-4091-A2D6-211043BD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Engagement in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5EFEC-3E61-4A6D-B074-8F475BC3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F4D83-BABB-4646-AA89-451CFC69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A7D21-5EA3-4677-A3C7-B23D461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Understanding role complexity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D1590-ABBA-4C10-AE04-411D1062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336F2-5A7D-4E82-9EB4-79DE896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B5053-959C-43BE-8BE7-87252863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Emotional self-awareness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9C962-F97D-4418-A0FF-31CA6A20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03FBC-E90E-4E2C-ABAF-F0A9C248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A8AB1-48C9-40B8-9FAF-4A10D62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Self-authorisation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476B9-09A3-420A-B6F1-91EA1087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2766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2181C-C04B-424D-8038-03904AF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E53A5-6534-473A-BCA9-3C263795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Inability to facilitate others' growth</a:t>
            </a:r>
          </a:p>
        </p:txBody>
      </p:sp>
    </p:spTree>
    <p:extLst>
      <p:ext uri="{BB962C8B-B14F-4D97-AF65-F5344CB8AC3E}">
        <p14:creationId xmlns:p14="http://schemas.microsoft.com/office/powerpoint/2010/main" val="304526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6DD59-ACD2-4932-AC0F-71115A0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FE59F-CBC4-4B3C-A26C-984444F4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coaching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F3D47-ADD7-4D1B-B7B7-FE8CD602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4458A-A7B9-4EA7-840D-0BBD3DC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20264-F762-487D-99BA-D663316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731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1B5F4-5362-4440-A2AC-173EA5D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10156-4321-4C0B-A683-24DCD32E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Early 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7E5BD-00D7-471B-9786-FE721BD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821BA-AC0E-4675-AF77-9E81CA4C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Later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6DB65-8D45-4B2A-8514-F8183CEF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Strange and uncomfortable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254FA-25ED-4ED3-8E59-30B9C769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Unclear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937B1-F595-45DE-AEFA-B3BAD7D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Resistance to feelings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06596-FA76-414D-A750-87CF20E8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Talking around the real issue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B0A8B-094F-4160-8A60-17826354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Self-discovery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16D3A-5D36-465B-9DA4-EBCE08ED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Connections between behaviour and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815CB-BC20-4FB7-9D86-718E749D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Greater curiosity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99358-7B9D-4A54-A48E-F784AE61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A sense of relief and learning</a:t>
            </a:r>
          </a:p>
        </p:txBody>
      </p:sp>
    </p:spTree>
    <p:extLst>
      <p:ext uri="{BB962C8B-B14F-4D97-AF65-F5344CB8AC3E}">
        <p14:creationId xmlns:p14="http://schemas.microsoft.com/office/powerpoint/2010/main" val="5968885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16B9A-B5C8-49A8-9440-E4DD90E6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A0CD7-7EB9-4843-A986-B136C5B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Engagement in the leadership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6D1AC-2F88-47D0-92DF-646F4711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558D-CEDA-4BEB-A786-87D5D300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3B572-450A-4077-8A54-5E6D1167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78028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0EA90-F86C-4DD9-987D-8E45F989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72C86-D4D0-4998-83F3-4A8372B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Initial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652A6-12F9-41CA-ADE8-56DF7D2F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240F9-1E4B-4027-8AA0-781CF7CF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Emerging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F799A-34A8-4853-8038-8F692257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People treated like numbers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A52D3-31F3-4F9A-8BD8-9681220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Technical work felt safer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65209-24A2-4171-9164-477D1219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Difficult meetings were avoided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BE022-B064-4524-BC7F-05490FA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More energy for people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79494-4F48-497D-86E1-5709C8F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Greater involvement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C0E06-EAF3-4598-B6B5-5531092A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Problems reframed as possibilities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C8116-604B-46F3-944B-65D18148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Participants preferred financial tasks because people problems made them feel tired and incompetent</a:t>
            </a:r>
          </a:p>
        </p:txBody>
      </p:sp>
    </p:spTree>
    <p:extLst>
      <p:ext uri="{BB962C8B-B14F-4D97-AF65-F5344CB8AC3E}">
        <p14:creationId xmlns:p14="http://schemas.microsoft.com/office/powerpoint/2010/main" val="6462122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5F580-BE21-43B2-A622-8B3E734A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CEFCF-1DE7-4292-AE02-B263F987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Understanding role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4F527-DA51-44E3-97EC-609F076F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6857-BAD4-41BE-9296-030D81CB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Zeeshan Sikander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30DE7-6966-4BF1-82B0-8965F643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8290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5CBBF-2D04-44BB-8EE8-EC893F3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46CA2-0072-4BD8-95BC-F3D2AC17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success did not automatically produce effective leadership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D66E2-74D3-4516-8F81-3429D60D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A6028-A1E4-42DC-A5FF-C083523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Management focused on measurable personal 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13C35-B848-457E-B861-8D6F7CAD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C4092-A5FF-42F5-8813-C2A8AD99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Leadership required outcomes through other people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797F4-B12B-49E1-A0C4-A7A60B5F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B243B-DAF5-468A-9E30-FAF1453E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Interpersonal situations felt less predictable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FA851-A25B-4CB1-B56C-FCEF9CEA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8F1D5-1E46-4EE9-B7F3-4A3B59D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needed experience followed by further coaching</a:t>
            </a:r>
          </a:p>
        </p:txBody>
      </p:sp>
    </p:spTree>
    <p:extLst>
      <p:ext uri="{BB962C8B-B14F-4D97-AF65-F5344CB8AC3E}">
        <p14:creationId xmlns:p14="http://schemas.microsoft.com/office/powerpoint/2010/main" val="21086305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0E81D-7574-4232-BD47-6D542D22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0E298-A2D7-4A10-84E3-B8FEC42B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Emotional self-awareness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6F8B-A2FB-46F1-9D9D-D01CDE8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82342-4807-4DB7-9665-6CEFB63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EFA81-9029-457E-9A63-C0103E11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8778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CA874-212B-4F45-8137-23CC96B9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AD1F4-A9C4-495B-90A1-BF8133C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leaders moved from intellectualising feelings towards recognising and expressing them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F6669-80DC-4FD3-9CB1-FDDEB2E6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7D2A2-3445-4BFD-9346-F86FD40B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Feelings initially seemed irrelevant or unsafe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8097E-B618-423D-8192-25ED36CE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9BA6A-E22D-4FDE-92C2-5A574799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Several participants suppressed difficult emotions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120CA-12A2-4A2A-8AA1-B555FE9F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193C1-310A-46B6-BBDA-92F1F91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Coaching increased self-acceptance and emotional vocabulary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C2F8B-D8DC-49D6-BB97-4319617C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36681-3DA0-4B0E-A194-18086D0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Awareness remained stronger inside the self than inside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142775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A5644-728F-4924-A39C-EA42A74A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409D6-E3B2-48C8-A9D4-DFA222A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Self-authorisation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EE02A-77F5-4ED7-A7D7-94E8626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EEBEF-540F-48FF-9DCF-3C7C2B9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696B5-C3BC-4A76-B2F2-31964FCE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92659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E85E6-8936-498B-8926-720F0E6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C2A47-D54C-484D-A3E3-9F2AE975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External 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D9FEB-56AA-4A16-A612-D21F121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8903A-3C65-4B9E-A9CC-8952F56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Internal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50686-AE35-4217-B7C5-FAF05110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Blaming the organisation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EDEF4-33A2-4EC3-B3C0-5DA2E3F5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Depending on formal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65C3A-A034-447A-AFDD-1A40469E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Looking outward for permission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C38D5-13D6-43FA-A52B-81970913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Task-based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670DA-2284-4FCA-B62A-04F15A6F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Taking responsibility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4C0C7-F7D8-4412-8130-0EAC113E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Using personal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B5879-847C-47B6-96DB-8AC5E48A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Making conscious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20DC5-D1CB-452C-ADBD-7490CC41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Drawing on inner resources</a:t>
            </a:r>
          </a:p>
        </p:txBody>
      </p:sp>
    </p:spTree>
    <p:extLst>
      <p:ext uri="{BB962C8B-B14F-4D97-AF65-F5344CB8AC3E}">
        <p14:creationId xmlns:p14="http://schemas.microsoft.com/office/powerpoint/2010/main" val="297219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56E66-59AE-4C92-8E81-249A5A24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5BA4-82CE-4D54-99FE-F88D8228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interpersonal gap remained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C1DC1-CF31-4AF9-AF4E-8865BE8D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83601-DAEB-439B-A7F6-07947378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8D64E-2423-4286-9EB1-68C47C46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975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6A606-63B4-4173-9566-9EF7AF6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64977-57A6-4876-AF2A-436DA518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programme improved self-awareness more than the ability to develop other people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CD37C-C477-4E64-8642-E1D45DA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7BDA5-9302-472F-A8B9-FC60686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Meetings remained content-driven and instructional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6B7F4-AFE9-40BD-8C85-D78C2FFC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B65B7-99B9-4CB7-8A88-1C963E6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Autocratic and telling styles limited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09679-F4AE-4DB2-8375-B2D8607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D2899-FC0F-4B5F-A265-F56EEE31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missed emotional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0DAC2-01BA-481D-B6F7-B121AD68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8DDB6-F0CC-4372-888E-341B4454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Listening, empathy and developmental conversation remained weak</a:t>
            </a:r>
          </a:p>
        </p:txBody>
      </p:sp>
    </p:spTree>
    <p:extLst>
      <p:ext uri="{BB962C8B-B14F-4D97-AF65-F5344CB8AC3E}">
        <p14:creationId xmlns:p14="http://schemas.microsoft.com/office/powerpoint/2010/main" val="6239156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BCA41-DD90-46C2-8CBB-36D9EC8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6E14D-51A2-41CD-AFAA-2F456066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How the findings connect with 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74CC8-18BF-4B32-8049-A6D163A6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Findings Part Two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533C4-3BD6-4F38-804A-B81888C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Tahmina Ghaffar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4D512-470F-47A0-8D0E-DA09B64D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2412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C933F-21A6-4657-9B5F-335673B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954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1AA53-46CC-4205-897F-325B2F6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66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E49DE-858C-4F93-976D-D67778FB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097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Work engagement increased as leaders invested energy in people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1E416-D262-45D4-8BCA-0E2F242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3ADE7-17F1-488F-91BB-79C7FF8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600A3-4FFF-4ECC-9474-D86F23F2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146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Sense of coherence improved as leadership became more understandable and meaningful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62C21-C2FB-4C06-8582-1E495BF0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C7F72-24FA-4E5D-9105-85D279D3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AF377-40D0-41C8-BFAD-F1D18FE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Internal locus of control supported self-authorisation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CD96E-C45B-4289-8469-0721A34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27BAA-9A23-4C7D-BEE4-EE5AF437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9A475-2537-4D0D-A385-49312248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244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Emotional intelligence developed mainly within the self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8AB05-C0AD-41C1-9AA7-767335B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D641B-E732-4EE8-B528-91848CCD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864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53498-1529-4BE0-A4A6-B3BCD44F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293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Leadership style moved away from command, but active listening remained limited</a:t>
            </a:r>
          </a:p>
        </p:txBody>
      </p:sp>
    </p:spTree>
    <p:extLst>
      <p:ext uri="{BB962C8B-B14F-4D97-AF65-F5344CB8AC3E}">
        <p14:creationId xmlns:p14="http://schemas.microsoft.com/office/powerpoint/2010/main" val="11066014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B2E54-4DA8-4CA0-8812-E4A960F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B0F1D-D4D0-4C24-8722-89D5537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What the study actually concludes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A2E13-CAA8-45C2-8465-6B80A19F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Critical Evaluation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3E8CF-3239-4DFC-97BA-C90521B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BDF21-9DF7-4920-969A-E30E867B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7289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5BF80-82B6-475A-8B7A-EC70802E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954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B2B6E-540C-4D9B-A48D-661FA101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66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EA240-46D3-4B42-B56D-8626A22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097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Intrapersonal awareness improved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43064-6912-4068-A800-D571DD9F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BB91-8586-48CA-9186-946F76DC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5BCC2-E9FC-479F-9426-F74345C1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146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identified and expressed needs and feelings more openly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09EEE-B9B9-4FA7-84DB-06E63150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9D1AE-5AD0-4522-BBCE-9F11596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619AE-3711-4CA2-A1A5-BA666727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They understood the cognitive and emotional complexity of leadership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8CE41-FD44-4ECE-9802-A5E711D6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A7351-4BA0-43A5-B711-A6050A8C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9A9BA-EC09-4852-9817-0CEB9CF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244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programme did not sufficiently develop interpersonal effectiveness</a:t>
            </a:r>
          </a:p>
        </p:txBody>
      </p:sp>
    </p:spTree>
    <p:extLst>
      <p:ext uri="{BB962C8B-B14F-4D97-AF65-F5344CB8AC3E}">
        <p14:creationId xmlns:p14="http://schemas.microsoft.com/office/powerpoint/2010/main" val="431712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C5865-5F68-48FE-A1CF-9D676E4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6CF89-F2CA-4C7F-A103-C455B76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Critical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DA3F4-C721-41A2-8B10-1995E46E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Critical Evaluation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A825C-6641-48D1-879E-616BA13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7A477-2775-4FBC-8448-7BB90E2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1216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BEF58-C206-4019-A5E0-9BEFE7C3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553B7-7E66-4F6C-BCAA-69A873C7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CD5E2-9050-4595-BE9D-DB23101B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99066-B695-4C2C-BA7B-AA9F1361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2E895-4742-4E19-80AD-F354932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Rich field notes and participant essays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DCCFE-7467-43FE-8E3C-47916CF6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Clear connection between theory and observed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12897-D3C0-468C-B84E-5B4E4AE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Prolonged engagement and independent peer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4E223-27B4-49E9-95E7-4A738D4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Honest reporting of the programme's limitation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18916-C4BD-4272-94C9-D800B484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5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Small convenience sample from one organisation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E9240-42BB-47C6-8ABF-4E78EC68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Coach and researcher were the same person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15562-82E0-4356-81E3-5E511CDE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Ten weeks may have been too short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F710F-CC34-4255-9274-F0EE9865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Discourse analysis depended heavily on subjective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0421126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05DB2-3D1E-4E88-ABCF-D4D19AE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C9C25-E0F8-454E-AD99-3E2A69A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What we would do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059EE-992B-46FB-9156-D223722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Critical Evaluation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A915-43E2-4126-A98D-21ECEA0A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190E8-F3F0-4A67-87B4-9AB8091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17043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002B-5080-417C-8BBA-E1584049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9F4C4-EA5E-403A-9D1A-0CDE0D07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7CE80-615D-4721-98E6-AF4928F7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66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Separate the coaching and research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79671-BEA0-40B4-A3A9-9FE7E27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2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B86F7-BBBC-496B-9D8C-F7282896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24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B532D-1193-4D95-96F7-C379835E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Include interviews or observations by an independent 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D7416-04C9-4585-AF25-BF0D90CB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0756E-F24F-4304-B3C7-757E01DC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A7E67-B8D9-4062-A166-4EF56CB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Observe behaviour over a longer period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E559D-0608-4CD6-8867-77EB25E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0B2AE-572C-46A2-9A69-82735F5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32022-2C6A-496D-81AF-B4464FBB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Add feedback from direct reports and colleagues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AB3A3-24B8-482A-83BF-1BCC4D53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5E2DB-14EE-4219-8E12-70BDEDBA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C2E42-D515-48CD-9BC3-9753B43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Practise listening and responding through role-play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A2E6A-C562-4A5D-91E7-2EA7C69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0327D-51FA-41FB-961E-D5C60C92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4295C-E08F-4389-A0AA-1BDA6D74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Follow participants after the programme</a:t>
            </a:r>
          </a:p>
        </p:txBody>
      </p:sp>
    </p:spTree>
    <p:extLst>
      <p:ext uri="{BB962C8B-B14F-4D97-AF65-F5344CB8AC3E}">
        <p14:creationId xmlns:p14="http://schemas.microsoft.com/office/powerpoint/2010/main" val="19822121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D31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C8455-BFFA-47C8-B185-FA322592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Leadership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BCCD-C1E3-4D09-8936-A88B5E64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Positive inner change matters only when other people can experience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6C780-5571-45B1-819A-88FAD793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0CB82-2323-4D87-ACBD-8692CCD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Integrate coaching with leadership-development programmes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4AC4D-6562-480F-92FA-D1D4CA66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44DD5-57E7-4F3F-BE26-6E5BDF69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Develop interpersonal skills as deliberately as self-awareness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7C8A0-45F4-4533-9E8A-1C40D44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E537A-61AB-4A5E-88B7-46811CF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Use observation, feedback and practice in real work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B0FA0-620A-41AA-8555-ADC3028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1B9A6"/>
          </a:solidFill>
          <a:ln xmlns:a="http://schemas.openxmlformats.org/drawingml/2006/main" w="9525">
            <a:solidFill>
              <a:srgbClr val="31B9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D57B3-51CF-4662-AD1B-665A2F0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Treat difficult emotions as part of leadership rather than a failure of positivity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606A0-75EF-498B-94DD-23FE843E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Final takeaway: self-awareness opens the door; relational behaviour determines whether leadership walks through it.</a:t>
            </a:r>
          </a:p>
        </p:txBody>
      </p:sp>
    </p:spTree>
    <p:extLst>
      <p:ext uri="{BB962C8B-B14F-4D97-AF65-F5344CB8AC3E}">
        <p14:creationId xmlns:p14="http://schemas.microsoft.com/office/powerpoint/2010/main" val="291036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2026-10-07T04:34:38.3900000Z</dcterms:created>
  <dcterms:modified xsi:type="dcterms:W3CDTF">2026-10-07T04:34:38.3900000Z</dcterms:modified>
</coreProperties>
</file>