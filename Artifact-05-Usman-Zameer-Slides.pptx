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a45f5bb5364936" /><Relationship Type="http://schemas.openxmlformats.org/officeDocument/2006/relationships/extended-properties" Target="/docProps/app.xml" Id="Rc8ee424802984acc" /><Relationship Type="http://schemas.openxmlformats.org/officeDocument/2006/relationships/officeDocument" Target="/ppt/presentation.xml" Id="Ra82cf2a18a1b40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5cd7fa0c13441d"/>
  </p:sldMasterIdLst>
  <p:notesMasterIdLst>
    <p:notesMasterId xmlns:r="http://schemas.openxmlformats.org/officeDocument/2006/relationships" r:id="Rcb85ddc1352341ab"/>
  </p:notesMasterIdLst>
  <p:sldIdLst>
    <p:sldId xmlns:r="http://schemas.openxmlformats.org/officeDocument/2006/relationships" id="256" r:id="R9e9d87c8e08c4e6b"/>
    <p:sldId xmlns:r="http://schemas.openxmlformats.org/officeDocument/2006/relationships" id="257" r:id="R5840019ba8744a94"/>
    <p:sldId xmlns:r="http://schemas.openxmlformats.org/officeDocument/2006/relationships" id="258" r:id="R55f37954a09d48c4"/>
    <p:sldId xmlns:r="http://schemas.openxmlformats.org/officeDocument/2006/relationships" id="259" r:id="R93c482b575a14b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3066a54b274414" /><Relationship Type="http://schemas.openxmlformats.org/officeDocument/2006/relationships/slideMaster" Target="/ppt/slideMasters/slideMaster1.xml" Id="Re25cd7fa0c13441d" /><Relationship Type="http://schemas.openxmlformats.org/officeDocument/2006/relationships/notesMaster" Target="/ppt/notesMasters/notesMaster1.xml" Id="Rcb85ddc1352341ab" /><Relationship Type="http://schemas.openxmlformats.org/officeDocument/2006/relationships/presProps" Target="/ppt/presProps.xml" Id="Rfc26edb7342b4dbe" /><Relationship Type="http://schemas.openxmlformats.org/officeDocument/2006/relationships/tableStyles" Target="/ppt/tableStyles.xml" Id="R3d47accc478d47c3" /><Relationship Type="http://schemas.openxmlformats.org/officeDocument/2006/relationships/slide" Target="/ppt/slides/slide1.xml" Id="R9e9d87c8e08c4e6b" /><Relationship Type="http://schemas.openxmlformats.org/officeDocument/2006/relationships/slide" Target="/ppt/slides/slide2.xml" Id="R5840019ba8744a94" /><Relationship Type="http://schemas.openxmlformats.org/officeDocument/2006/relationships/slide" Target="/ppt/slides/slide3.xml" Id="R55f37954a09d48c4" /><Relationship Type="http://schemas.openxmlformats.org/officeDocument/2006/relationships/slide" Target="/ppt/slides/slide4.xml" Id="R93c482b575a14b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c21bb146ec42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ec023e7f3740a6" /><Relationship Type="http://schemas.openxmlformats.org/officeDocument/2006/relationships/notesMaster" Target="/ppt/notesMasters/notesMaster1.xml" Id="R0176355ccf3f45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77d78da7cb493e" /><Relationship Type="http://schemas.openxmlformats.org/officeDocument/2006/relationships/notesMaster" Target="/ppt/notesMasters/notesMaster1.xml" Id="R3613fa2a4a444d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4db6fcaa6d4d0f" /><Relationship Type="http://schemas.openxmlformats.org/officeDocument/2006/relationships/notesMaster" Target="/ppt/notesMasters/notesMaster1.xml" Id="Rc1a1c7fbd6bb4b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818ae230164df8" /><Relationship Type="http://schemas.openxmlformats.org/officeDocument/2006/relationships/notesMaster" Target="/ppt/notesMasters/notesMaster1.xml" Id="Rbd0f4e1ae6424e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0fd68439fa4b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e40cecea634d83" /><Relationship Type="http://schemas.openxmlformats.org/officeDocument/2006/relationships/slideLayout" Target="/ppt/slideLayouts/slideLayout1.xml" Id="R9bd5f4f20f4e4d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d5f4f20f4e4d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c091d224c4b13" /><Relationship Type="http://schemas.openxmlformats.org/officeDocument/2006/relationships/notesSlide" Target="/ppt/notesSlides/notesSlide1.xml" Id="R48696eb613144d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e42d1fd9c4ac5" /><Relationship Type="http://schemas.openxmlformats.org/officeDocument/2006/relationships/notesSlide" Target="/ppt/notesSlides/notesSlide2.xml" Id="R9a636f0606124e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c0f2df0a44fa0" /><Relationship Type="http://schemas.openxmlformats.org/officeDocument/2006/relationships/notesSlide" Target="/ppt/notesSlides/notesSlide3.xml" Id="Rf5429ea7cdbf46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be7b7610dd4512" /><Relationship Type="http://schemas.openxmlformats.org/officeDocument/2006/relationships/notesSlide" Target="/ppt/notesSlides/notesSlide4.xml" Id="R2619c3801f2148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2A0531-A732-4B16-9B78-E4F2157A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43050"/>
            <a:ext cx="2457450" cy="354330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F69E4-6D12-4BE5-970D-206E4AB2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907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E9A16-3296-4FD1-993A-482B9C72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Ontology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A340D9-FB5B-4EAA-A7B1-DAF851F6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924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E8A"/>
                </a:solidFill>
                <a:latin typeface="Arial"/>
                <a:ea typeface="Arial"/>
                <a:cs typeface="Arial"/>
              </a:rPr>
              <a:t>Leadership reality appears through lived and contextual experience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355FB-5BBF-4047-90BA-7028F95B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543050"/>
            <a:ext cx="2457450" cy="354330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1C85A-8395-446E-862B-3F94EC9B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893831-7F9F-4992-B7F0-4CEBC119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765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Epistemology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4735EC-15C2-4390-A060-3EED3625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81350"/>
            <a:ext cx="1924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E8A"/>
                </a:solidFill>
                <a:latin typeface="Arial"/>
                <a:ea typeface="Arial"/>
                <a:cs typeface="Arial"/>
              </a:rPr>
              <a:t>Knowledge develops through reflection and interaction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5DA7CF-F903-4A30-9009-B1D3701F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43050"/>
            <a:ext cx="2457450" cy="354330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50503D-711D-4FA3-AEF4-9BA96812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7907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108610-E324-4914-995F-12DB3485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765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Paradigm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0F5959-9C1A-4EE8-8B70-9993B9B1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81350"/>
            <a:ext cx="1924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E8A"/>
                </a:solidFill>
                <a:latin typeface="Arial"/>
                <a:ea typeface="Arial"/>
                <a:cs typeface="Arial"/>
              </a:rPr>
              <a:t>Interpretive and constructivist reading with participatory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8B421A-5E7A-42DD-999B-9E85A517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543050"/>
            <a:ext cx="2457450" cy="354330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0D314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8580BE-1350-4BBC-B14E-31B7DC51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7907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0E2113-1674-4014-9CA9-A783FB30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765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Methodology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3228FF-7D25-4A38-819B-14DAA986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81350"/>
            <a:ext cx="1924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5EC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5ECEC"/>
                </a:solidFill>
                <a:latin typeface="Arial"/>
                <a:ea typeface="Arial"/>
                <a:cs typeface="Arial"/>
              </a:rPr>
              <a:t>Qualitative descriptive case study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03F0D4-8359-49AA-87BD-7F91B79E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77E8A"/>
                </a:solidFill>
                <a:latin typeface="Arial"/>
                <a:ea typeface="Arial"/>
                <a:cs typeface="Arial"/>
              </a:rPr>
              <a:t>The article does not explicitly name its ontology or epistemology; this reading follows its design and assumptions.</a:t>
            </a:r>
          </a:p>
        </p:txBody>
      </p:sp>
    </p:spTree>
    <p:extLst>
      <p:ext uri="{BB962C8B-B14F-4D97-AF65-F5344CB8AC3E}">
        <p14:creationId xmlns:p14="http://schemas.microsoft.com/office/powerpoint/2010/main" val="14611557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03CA4D-66E2-46C2-AF8C-54796642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11C9F-9710-4900-80C8-BC5742A8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Research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C73753-89FB-42AF-BE19-4DDFC74B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905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Research Philosophy and Methodology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CEF04C-1070-4091-A1A3-EE4752ED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477000"/>
            <a:ext cx="2714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Usman Zameer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B3909-2B94-4431-8ED3-78717DAE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01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solidFill>
              <a:srgbClr val="31B9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BEE13-B8DF-4512-BDD2-8A3E5E67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95400"/>
            <a:ext cx="105537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0D314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9CC02-B982-40BF-AD56-F4E4982E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bounded coaching programme became the 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B2F6D4-B864-4A2F-8C56-B3CCA0B0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47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95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3A70C0-AB49-478C-81FA-2910ED76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Qualitative and descriptive approach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0C23C-7DEC-4C85-AF35-73BB9CC9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33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62D7B8-FCE2-496B-A949-E173C351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623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Participatory action research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F99D18-C423-44C6-B282-612601C5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19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95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7E0917-5561-44CD-AD80-C76A8564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481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Intrinsic case: understand this programme deeply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DB3B15-C7D9-40F5-8BA7-D49F8670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05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050601-BAD6-47E1-9177-4854C491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339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Instrumental case: inform leadership development in the organisation</a:t>
            </a:r>
          </a:p>
        </p:txBody>
      </p:sp>
    </p:spTree>
    <p:extLst>
      <p:ext uri="{BB962C8B-B14F-4D97-AF65-F5344CB8AC3E}">
        <p14:creationId xmlns:p14="http://schemas.microsoft.com/office/powerpoint/2010/main" val="20486231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6AAFAC-E88E-4492-A4C3-287D4631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7D0C6-4D26-4ED3-A442-C172586C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Participants and coaching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DCF71-5D0C-4539-93B9-5C4A9FD4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905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Research Philosophy and Methodology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94F982-C194-413B-9DD6-26B8F2D9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477000"/>
            <a:ext cx="2714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Usman Zameer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51C9E-ED9F-40CF-B893-DCE93534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solidFill>
              <a:srgbClr val="31B9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225514-DEFB-4A85-A7C7-3308D1BC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2438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649271-EB6A-40B2-BA8B-38A2BE1C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8115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A1299F-1B5A-472F-981B-141EB5AF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leaders invited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0754F-9454-40D4-86C4-723E6069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409700"/>
            <a:ext cx="2438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0D314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36F049-3F45-499D-9E52-9BA2F9A5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58115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5D0C08-6D68-4A7F-8829-6F16F40E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526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accepted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C80956-07CD-4B28-8E98-0CB633B5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409700"/>
            <a:ext cx="2438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3A31A1-B14E-473A-A506-15DF7ED5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8115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8327EF-745E-46F3-8B9B-F6769B54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526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one-hour sessions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C15BD5-3EAB-4A92-9B5D-B16BB186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409700"/>
            <a:ext cx="2438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C82DE0-CAD9-4E74-A620-F1BEDDA4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8115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59162A-E5DA-4761-A76B-E11CCCF4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526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weeks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EF55D0-0578-486F-8018-F93914F1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95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D7A75B-20BB-4FBA-B3C9-47873767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385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Seven men and four women, aged 24 to 41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31BE33-37A5-47E8-AD05-129543C4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38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761507-60E8-4F6B-B656-A16D2A61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671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Five Black and six White participants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97DFA9-2764-4C3F-8DE8-1DAFF319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67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95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8D3A72-8D78-4D16-927F-C14B05AD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958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Convenience sample of advancement-potential leaders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64FE32-A01B-4E0D-850C-E48D0397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95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C8F4E8-73BD-45A4-85D8-BE24D784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1244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Coach observed one meeting chaired by each participant</a:t>
            </a:r>
          </a:p>
        </p:txBody>
      </p:sp>
    </p:spTree>
    <p:extLst>
      <p:ext uri="{BB962C8B-B14F-4D97-AF65-F5344CB8AC3E}">
        <p14:creationId xmlns:p14="http://schemas.microsoft.com/office/powerpoint/2010/main" val="3691510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3342FA-896A-4518-B4C3-E54BA005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E4090-79DF-44B8-9B3F-F5C7C712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From experience to findings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07133-F6A3-4216-81CB-61186FED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905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Research Philosophy and Methodology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1464A-50B2-4ECC-8E7B-604CCA6C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477000"/>
            <a:ext cx="2714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Usman Zameer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F215E-43F8-4AC8-96ED-19807DE5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203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solidFill>
              <a:srgbClr val="31B9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CA803-A8FB-421C-8C7F-FB9BBC3A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43050"/>
            <a:ext cx="2457450" cy="354330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D133BD-7FCB-46BF-B2ED-2424EEAD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907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C1051D-866A-4AB2-9752-3D0989FF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Field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402682-A5C6-4C9C-AD06-FFEE4990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924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E8A"/>
                </a:solidFill>
                <a:latin typeface="Arial"/>
                <a:ea typeface="Arial"/>
                <a:cs typeface="Arial"/>
              </a:rPr>
              <a:t>Recorded during and after coaching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DFECE2-92E0-4308-8DA0-A4EB547E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543050"/>
            <a:ext cx="2457450" cy="354330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6BCDC-CEF3-464A-8235-7737D07B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9D508-653B-4D2A-8215-57D5746A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765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Reflective essays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13BE8C-C177-451F-8131-9408DBE3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81350"/>
            <a:ext cx="1924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E8A"/>
                </a:solidFill>
                <a:latin typeface="Arial"/>
                <a:ea typeface="Arial"/>
                <a:cs typeface="Arial"/>
              </a:rPr>
              <a:t>About five pages from each participant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653ED4-FEB5-48E4-AC12-F31565AD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43050"/>
            <a:ext cx="2457450" cy="354330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03DCC3-757A-4E5E-977E-3D34EA2F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7907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87D317-9D88-40A4-819B-669FEE21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765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Discourse analysis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8B6FD6-2FAB-4F9B-8EFB-DB288711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81350"/>
            <a:ext cx="1924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E8A"/>
                </a:solidFill>
                <a:latin typeface="Arial"/>
                <a:ea typeface="Arial"/>
                <a:cs typeface="Arial"/>
              </a:rPr>
              <a:t>Familiarisation, categorising and 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6A0292-54C9-4CBC-B1D9-5FFE91E4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543050"/>
            <a:ext cx="2457450" cy="354330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0D314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5E7969-7CFF-4CAB-BA07-03783AF2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7907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9A69B0-E96C-42E2-8AC8-EEC4914E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765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Six themes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526901-44BE-453C-91A1-754ECBC7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81350"/>
            <a:ext cx="1924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5EC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5ECEC"/>
                </a:solidFill>
                <a:latin typeface="Arial"/>
                <a:ea typeface="Arial"/>
                <a:cs typeface="Arial"/>
              </a:rPr>
              <a:t>Working hypotheses linked experience to theory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A0FA73-B47D-4FC4-96DF-243CD256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77E8A"/>
                </a:solidFill>
                <a:latin typeface="Arial"/>
                <a:ea typeface="Arial"/>
                <a:cs typeface="Arial"/>
              </a:rPr>
              <a:t>Quality: peer review by two psychologists, prolonged engagement, consent, confidentiality and organisational permission.</a:t>
            </a:r>
          </a:p>
        </p:txBody>
      </p:sp>
    </p:spTree>
    <p:extLst>
      <p:ext uri="{BB962C8B-B14F-4D97-AF65-F5344CB8AC3E}">
        <p14:creationId xmlns:p14="http://schemas.microsoft.com/office/powerpoint/2010/main" val="3921203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2026-10-07T04:14:12.6320000Z</dcterms:created>
  <dcterms:modified xsi:type="dcterms:W3CDTF">2026-10-07T04:14:12.6320000Z</dcterms:modified>
</coreProperties>
</file>